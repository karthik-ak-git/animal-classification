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Bitter" charset="1" panose="02000000000000000000"/>
      <p:regular r:id="rId20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ithub.com/karthik-ak-Git/Animal-classification" TargetMode="External" Type="http://schemas.openxmlformats.org/officeDocument/2006/relationships/hyperlink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760886"/>
            <a:ext cx="9445526" cy="182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AI-Powered Animal Classification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919936"/>
            <a:ext cx="9445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Deep Learning Solution for 75+ Species Recognition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95500"/>
            <a:ext cx="7540824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The Problem &amp;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09244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The Challenge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467225"/>
            <a:ext cx="437688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Manual classification is time-consuming and lacks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927229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Traditional methods aren't scalable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933605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Limited accessibility for non-experts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70401" y="3709244"/>
            <a:ext cx="4252912" cy="56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401" y="4467225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95%+ accuracy across 75+ species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0401" y="5473601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Instant classification under 1 second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401" y="6479976"/>
            <a:ext cx="4376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User-friendly web interface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70401" y="7032724"/>
            <a:ext cx="437688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Self-improving through feedback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0"/>
            <a:ext cx="7200900" cy="10291465"/>
            <a:chOff x="0" y="0"/>
            <a:chExt cx="9601200" cy="1372195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21969"/>
            </a:xfrm>
            <a:custGeom>
              <a:avLst/>
              <a:gdLst/>
              <a:ahLst/>
              <a:cxnLst/>
              <a:rect r="r" b="b" t="t" l="l"/>
              <a:pathLst>
                <a:path h="13721969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21969"/>
                  </a:lnTo>
                  <a:lnTo>
                    <a:pt x="0" y="13721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t="0" r="-2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97421"/>
            <a:ext cx="8001319" cy="84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Technical Architecture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36724" y="1973759"/>
            <a:ext cx="1338262" cy="1606004"/>
            <a:chOff x="0" y="0"/>
            <a:chExt cx="1784350" cy="2141338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784350" cy="2141347"/>
            </a:xfrm>
            <a:custGeom>
              <a:avLst/>
              <a:gdLst/>
              <a:ahLst/>
              <a:cxnLst/>
              <a:rect r="r" b="b" t="t" l="l"/>
              <a:pathLst>
                <a:path h="2141347" w="1784350">
                  <a:moveTo>
                    <a:pt x="0" y="0"/>
                  </a:moveTo>
                  <a:lnTo>
                    <a:pt x="1784350" y="0"/>
                  </a:lnTo>
                  <a:lnTo>
                    <a:pt x="1784350" y="2141347"/>
                  </a:lnTo>
                  <a:lnTo>
                    <a:pt x="0" y="2141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" t="0" r="-6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42580" y="2212776"/>
            <a:ext cx="3345805" cy="44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Frontend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42580" y="2734419"/>
            <a:ext cx="7950696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Bootstrap 5 with responsive design and vanilla JavaScript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936724" y="3579762"/>
            <a:ext cx="1338262" cy="1606004"/>
            <a:chOff x="0" y="0"/>
            <a:chExt cx="1784350" cy="214133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784350" cy="2141347"/>
            </a:xfrm>
            <a:custGeom>
              <a:avLst/>
              <a:gdLst/>
              <a:ahLst/>
              <a:cxnLst/>
              <a:rect r="r" b="b" t="t" l="l"/>
              <a:pathLst>
                <a:path h="2141347" w="1784350">
                  <a:moveTo>
                    <a:pt x="0" y="0"/>
                  </a:moveTo>
                  <a:lnTo>
                    <a:pt x="1784350" y="0"/>
                  </a:lnTo>
                  <a:lnTo>
                    <a:pt x="1784350" y="2141347"/>
                  </a:lnTo>
                  <a:lnTo>
                    <a:pt x="0" y="2141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1" t="0" r="-6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542580" y="3818781"/>
            <a:ext cx="3345805" cy="44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FastAPI Backend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2580" y="4340424"/>
            <a:ext cx="7950696" cy="51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Async, high-performance API with security features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936724" y="5185767"/>
            <a:ext cx="1338262" cy="1606004"/>
            <a:chOff x="0" y="0"/>
            <a:chExt cx="1784350" cy="214133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784350" cy="2141347"/>
            </a:xfrm>
            <a:custGeom>
              <a:avLst/>
              <a:gdLst/>
              <a:ahLst/>
              <a:cxnLst/>
              <a:rect r="r" b="b" t="t" l="l"/>
              <a:pathLst>
                <a:path h="2141347" w="1784350">
                  <a:moveTo>
                    <a:pt x="0" y="0"/>
                  </a:moveTo>
                  <a:lnTo>
                    <a:pt x="1784350" y="0"/>
                  </a:lnTo>
                  <a:lnTo>
                    <a:pt x="1784350" y="2141347"/>
                  </a:lnTo>
                  <a:lnTo>
                    <a:pt x="0" y="2141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1" t="0" r="-6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542580" y="5424785"/>
            <a:ext cx="3345805" cy="44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ResNet18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42580" y="5946427"/>
            <a:ext cx="7950696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PyTorch 2.0+ with transfer learning from ImageNet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936724" y="6791771"/>
            <a:ext cx="1338262" cy="1606004"/>
            <a:chOff x="0" y="0"/>
            <a:chExt cx="1784350" cy="214133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784350" cy="2141347"/>
            </a:xfrm>
            <a:custGeom>
              <a:avLst/>
              <a:gdLst/>
              <a:ahLst/>
              <a:cxnLst/>
              <a:rect r="r" b="b" t="t" l="l"/>
              <a:pathLst>
                <a:path h="2141347" w="1784350">
                  <a:moveTo>
                    <a:pt x="0" y="0"/>
                  </a:moveTo>
                  <a:lnTo>
                    <a:pt x="1784350" y="0"/>
                  </a:lnTo>
                  <a:lnTo>
                    <a:pt x="1784350" y="2141347"/>
                  </a:lnTo>
                  <a:lnTo>
                    <a:pt x="0" y="2141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1" t="0" r="-61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542580" y="7030790"/>
            <a:ext cx="3345805" cy="44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Feedback Loop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42580" y="7552433"/>
            <a:ext cx="7950696" cy="51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Incremental learning with JSON-based storage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6724" y="8613130"/>
            <a:ext cx="9556551" cy="942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Deployed using Docker + Docker Compose with pytest testing achieving 80%+ coverage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29270" y="594420"/>
            <a:ext cx="10163336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Dataset &amp; Model Performance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9270" y="1865859"/>
            <a:ext cx="5385197" cy="1744266"/>
            <a:chOff x="0" y="0"/>
            <a:chExt cx="7180263" cy="23256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0199" cy="2325624"/>
            </a:xfrm>
            <a:custGeom>
              <a:avLst/>
              <a:gdLst/>
              <a:ahLst/>
              <a:cxnLst/>
              <a:rect r="r" b="b" t="t" l="l"/>
              <a:pathLst>
                <a:path h="2325624" w="7180199">
                  <a:moveTo>
                    <a:pt x="0" y="47371"/>
                  </a:moveTo>
                  <a:cubicBezTo>
                    <a:pt x="0" y="21209"/>
                    <a:pt x="21209" y="0"/>
                    <a:pt x="47371" y="0"/>
                  </a:cubicBezTo>
                  <a:lnTo>
                    <a:pt x="7132828" y="0"/>
                  </a:lnTo>
                  <a:cubicBezTo>
                    <a:pt x="7158990" y="0"/>
                    <a:pt x="7180199" y="21209"/>
                    <a:pt x="7180199" y="47371"/>
                  </a:cubicBezTo>
                  <a:lnTo>
                    <a:pt x="7180199" y="2278253"/>
                  </a:lnTo>
                  <a:cubicBezTo>
                    <a:pt x="7180199" y="2304415"/>
                    <a:pt x="7158990" y="2325624"/>
                    <a:pt x="7132828" y="2325624"/>
                  </a:cubicBezTo>
                  <a:lnTo>
                    <a:pt x="47371" y="2325624"/>
                  </a:lnTo>
                  <a:cubicBezTo>
                    <a:pt x="21209" y="2325624"/>
                    <a:pt x="0" y="2304415"/>
                    <a:pt x="0" y="2278253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66205" y="2074217"/>
            <a:ext cx="2961680" cy="39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75+ Species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205" y="2529334"/>
            <a:ext cx="4911329" cy="8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6 bears, 15+ birds, 5 cat breeds, 6 big cats, 5 dog breeds, and more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451401" y="1865859"/>
            <a:ext cx="5385198" cy="1744266"/>
            <a:chOff x="0" y="0"/>
            <a:chExt cx="7180263" cy="2325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80199" cy="2325624"/>
            </a:xfrm>
            <a:custGeom>
              <a:avLst/>
              <a:gdLst/>
              <a:ahLst/>
              <a:cxnLst/>
              <a:rect r="r" b="b" t="t" l="l"/>
              <a:pathLst>
                <a:path h="2325624" w="7180199">
                  <a:moveTo>
                    <a:pt x="0" y="47371"/>
                  </a:moveTo>
                  <a:cubicBezTo>
                    <a:pt x="0" y="21209"/>
                    <a:pt x="21209" y="0"/>
                    <a:pt x="47371" y="0"/>
                  </a:cubicBezTo>
                  <a:lnTo>
                    <a:pt x="7132828" y="0"/>
                  </a:lnTo>
                  <a:cubicBezTo>
                    <a:pt x="7158990" y="0"/>
                    <a:pt x="7180199" y="21209"/>
                    <a:pt x="7180199" y="47371"/>
                  </a:cubicBezTo>
                  <a:lnTo>
                    <a:pt x="7180199" y="2278253"/>
                  </a:lnTo>
                  <a:cubicBezTo>
                    <a:pt x="7180199" y="2304415"/>
                    <a:pt x="7158990" y="2325624"/>
                    <a:pt x="7132828" y="2325624"/>
                  </a:cubicBezTo>
                  <a:lnTo>
                    <a:pt x="47371" y="2325624"/>
                  </a:lnTo>
                  <a:cubicBezTo>
                    <a:pt x="21209" y="2325624"/>
                    <a:pt x="0" y="2304415"/>
                    <a:pt x="0" y="2278253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88336" y="2074217"/>
            <a:ext cx="2961680" cy="39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95%+ Accuracy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88336" y="2529334"/>
            <a:ext cx="4911329" cy="8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Inference under 1 second with ImageNet pre-training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73532" y="1865859"/>
            <a:ext cx="5385198" cy="1744266"/>
            <a:chOff x="0" y="0"/>
            <a:chExt cx="7180263" cy="2325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80199" cy="2325624"/>
            </a:xfrm>
            <a:custGeom>
              <a:avLst/>
              <a:gdLst/>
              <a:ahLst/>
              <a:cxnLst/>
              <a:rect r="r" b="b" t="t" l="l"/>
              <a:pathLst>
                <a:path h="2325624" w="7180199">
                  <a:moveTo>
                    <a:pt x="0" y="47371"/>
                  </a:moveTo>
                  <a:cubicBezTo>
                    <a:pt x="0" y="21209"/>
                    <a:pt x="21209" y="0"/>
                    <a:pt x="47371" y="0"/>
                  </a:cubicBezTo>
                  <a:lnTo>
                    <a:pt x="7132828" y="0"/>
                  </a:lnTo>
                  <a:cubicBezTo>
                    <a:pt x="7158990" y="0"/>
                    <a:pt x="7180199" y="21209"/>
                    <a:pt x="7180199" y="47371"/>
                  </a:cubicBezTo>
                  <a:lnTo>
                    <a:pt x="7180199" y="2278253"/>
                  </a:lnTo>
                  <a:cubicBezTo>
                    <a:pt x="7180199" y="2304415"/>
                    <a:pt x="7158990" y="2325624"/>
                    <a:pt x="7132828" y="2325624"/>
                  </a:cubicBezTo>
                  <a:lnTo>
                    <a:pt x="47371" y="2325624"/>
                  </a:lnTo>
                  <a:cubicBezTo>
                    <a:pt x="21209" y="2325624"/>
                    <a:pt x="0" y="2304415"/>
                    <a:pt x="0" y="2278253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10467" y="2074217"/>
            <a:ext cx="2961680" cy="39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High Precision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10467" y="2529334"/>
            <a:ext cx="4911329" cy="46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94.2% precision and 93.8% recall average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829270" y="3876675"/>
            <a:ext cx="13443049" cy="5758904"/>
            <a:chOff x="0" y="0"/>
            <a:chExt cx="17924065" cy="767853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7924018" cy="7678547"/>
            </a:xfrm>
            <a:custGeom>
              <a:avLst/>
              <a:gdLst/>
              <a:ahLst/>
              <a:cxnLst/>
              <a:rect r="r" b="b" t="t" l="l"/>
              <a:pathLst>
                <a:path h="7678547" w="17924018">
                  <a:moveTo>
                    <a:pt x="0" y="0"/>
                  </a:moveTo>
                  <a:lnTo>
                    <a:pt x="17924018" y="0"/>
                  </a:lnTo>
                  <a:lnTo>
                    <a:pt x="17924018" y="7678547"/>
                  </a:lnTo>
                  <a:lnTo>
                    <a:pt x="0" y="7678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4" r="0" b="-4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721150"/>
            <a:chOff x="0" y="0"/>
            <a:chExt cx="24384000" cy="496153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961509"/>
            </a:xfrm>
            <a:custGeom>
              <a:avLst/>
              <a:gdLst/>
              <a:ahLst/>
              <a:cxnLst/>
              <a:rect r="r" b="b" t="t" l="l"/>
              <a:pathLst>
                <a:path h="49615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61509"/>
                  </a:lnTo>
                  <a:lnTo>
                    <a:pt x="0" y="496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" r="0" b="-4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869359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Key Features - Part 1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92238" y="6237685"/>
            <a:ext cx="850553" cy="850553"/>
          </a:xfrm>
          <a:custGeom>
            <a:avLst/>
            <a:gdLst/>
            <a:ahLst/>
            <a:cxnLst/>
            <a:rect r="r" b="b" t="t" l="l"/>
            <a:pathLst>
              <a:path h="850553" w="850553">
                <a:moveTo>
                  <a:pt x="0" y="0"/>
                </a:moveTo>
                <a:lnTo>
                  <a:pt x="850552" y="0"/>
                </a:lnTo>
                <a:lnTo>
                  <a:pt x="850552" y="850553"/>
                </a:lnTo>
                <a:lnTo>
                  <a:pt x="0" y="850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222" r="0" b="-2222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7150" y="6438751"/>
            <a:ext cx="4347716" cy="449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Advanced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7150" y="6994624"/>
            <a:ext cx="399335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Real-time image analysis with multi-species support for 75+ animals. Shows confidence scores and top-3 predictions.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6544866" y="6237685"/>
            <a:ext cx="850552" cy="850553"/>
          </a:xfrm>
          <a:custGeom>
            <a:avLst/>
            <a:gdLst/>
            <a:ahLst/>
            <a:cxnLst/>
            <a:rect r="r" b="b" t="t" l="l"/>
            <a:pathLst>
              <a:path h="850553" w="850552">
                <a:moveTo>
                  <a:pt x="0" y="0"/>
                </a:moveTo>
                <a:lnTo>
                  <a:pt x="850553" y="0"/>
                </a:lnTo>
                <a:lnTo>
                  <a:pt x="850553" y="850553"/>
                </a:lnTo>
                <a:lnTo>
                  <a:pt x="0" y="850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999" t="0" r="-999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49779" y="6438751"/>
            <a:ext cx="383292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User-Friendly Interface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9779" y="6994624"/>
            <a:ext cx="399335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Drag &amp; drop image upload with mobile-responsive design. Instant results display in a clean, modern UI.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097494" y="6237685"/>
            <a:ext cx="850553" cy="850553"/>
          </a:xfrm>
          <a:custGeom>
            <a:avLst/>
            <a:gdLst/>
            <a:ahLst/>
            <a:cxnLst/>
            <a:rect r="r" b="b" t="t" l="l"/>
            <a:pathLst>
              <a:path h="850553" w="850553">
                <a:moveTo>
                  <a:pt x="0" y="0"/>
                </a:moveTo>
                <a:lnTo>
                  <a:pt x="850552" y="0"/>
                </a:lnTo>
                <a:lnTo>
                  <a:pt x="850552" y="850553"/>
                </a:lnTo>
                <a:lnTo>
                  <a:pt x="0" y="8505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555" t="0" r="-30555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302406" y="6438751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Visual Explanations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02406" y="6994624"/>
            <a:ext cx="399335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Grad-CAM heatmap visualization shows what the model sees, building user trust with educational value.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33123" y="709017"/>
            <a:ext cx="6965751" cy="92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Key Features - Part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33123" y="2472630"/>
            <a:ext cx="4600575" cy="3844379"/>
            <a:chOff x="0" y="0"/>
            <a:chExt cx="6134100" cy="5125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34100" cy="5125847"/>
            </a:xfrm>
            <a:custGeom>
              <a:avLst/>
              <a:gdLst/>
              <a:ahLst/>
              <a:cxnLst/>
              <a:rect r="r" b="b" t="t" l="l"/>
              <a:pathLst>
                <a:path h="5125847" w="61341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890260" y="0"/>
                  </a:lnTo>
                  <a:cubicBezTo>
                    <a:pt x="6024880" y="0"/>
                    <a:pt x="6134100" y="109220"/>
                    <a:pt x="6134100" y="243840"/>
                  </a:cubicBezTo>
                  <a:lnTo>
                    <a:pt x="6134100" y="4882007"/>
                  </a:lnTo>
                  <a:cubicBezTo>
                    <a:pt x="6134100" y="5016627"/>
                    <a:pt x="6024880" y="5125847"/>
                    <a:pt x="5890260" y="5125847"/>
                  </a:cubicBezTo>
                  <a:lnTo>
                    <a:pt x="243840" y="5125847"/>
                  </a:lnTo>
                  <a:cubicBezTo>
                    <a:pt x="109220" y="5125847"/>
                    <a:pt x="0" y="5016627"/>
                    <a:pt x="0" y="4882007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33123" y="2434530"/>
            <a:ext cx="4600575" cy="152400"/>
            <a:chOff x="0" y="0"/>
            <a:chExt cx="6134100" cy="20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34100" cy="203200"/>
            </a:xfrm>
            <a:custGeom>
              <a:avLst/>
              <a:gdLst/>
              <a:ahLst/>
              <a:cxnLst/>
              <a:rect r="r" b="b" t="t" l="l"/>
              <a:pathLst>
                <a:path h="203200" w="613410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6078347" y="0"/>
                  </a:lnTo>
                  <a:cubicBezTo>
                    <a:pt x="6109208" y="0"/>
                    <a:pt x="6134100" y="24892"/>
                    <a:pt x="6134100" y="55753"/>
                  </a:cubicBezTo>
                  <a:lnTo>
                    <a:pt x="6134100" y="147447"/>
                  </a:lnTo>
                  <a:cubicBezTo>
                    <a:pt x="6134100" y="178181"/>
                    <a:pt x="6109208" y="203200"/>
                    <a:pt x="6078347" y="203200"/>
                  </a:cubicBezTo>
                  <a:lnTo>
                    <a:pt x="55753" y="203200"/>
                  </a:lnTo>
                  <a:cubicBezTo>
                    <a:pt x="24892" y="203200"/>
                    <a:pt x="0" y="178308"/>
                    <a:pt x="0" y="14744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15500" y="2054721"/>
            <a:ext cx="835819" cy="835819"/>
            <a:chOff x="0" y="0"/>
            <a:chExt cx="1114425" cy="11144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14425" cy="1114425"/>
            </a:xfrm>
            <a:custGeom>
              <a:avLst/>
              <a:gdLst/>
              <a:ahLst/>
              <a:cxnLst/>
              <a:rect r="r" b="b" t="t" l="l"/>
              <a:pathLst>
                <a:path h="1114425" w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66275" y="2149376"/>
            <a:ext cx="334267" cy="53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9829" y="3140571"/>
            <a:ext cx="3482876" cy="46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Incremental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49829" y="3676352"/>
            <a:ext cx="3967162" cy="232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Learns from user corrections without catastrophic forgetting using smart replay mechanism and automatic model updates.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712304" y="2472630"/>
            <a:ext cx="4600575" cy="3844379"/>
            <a:chOff x="0" y="0"/>
            <a:chExt cx="6134100" cy="5125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34100" cy="5125847"/>
            </a:xfrm>
            <a:custGeom>
              <a:avLst/>
              <a:gdLst/>
              <a:ahLst/>
              <a:cxnLst/>
              <a:rect r="r" b="b" t="t" l="l"/>
              <a:pathLst>
                <a:path h="5125847" w="61341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5890260" y="0"/>
                  </a:lnTo>
                  <a:cubicBezTo>
                    <a:pt x="6024880" y="0"/>
                    <a:pt x="6134100" y="109220"/>
                    <a:pt x="6134100" y="243840"/>
                  </a:cubicBezTo>
                  <a:lnTo>
                    <a:pt x="6134100" y="4882007"/>
                  </a:lnTo>
                  <a:cubicBezTo>
                    <a:pt x="6134100" y="5016627"/>
                    <a:pt x="6024880" y="5125847"/>
                    <a:pt x="5890260" y="5125847"/>
                  </a:cubicBezTo>
                  <a:lnTo>
                    <a:pt x="243840" y="5125847"/>
                  </a:lnTo>
                  <a:cubicBezTo>
                    <a:pt x="109220" y="5125847"/>
                    <a:pt x="0" y="5016627"/>
                    <a:pt x="0" y="4882007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12304" y="2434530"/>
            <a:ext cx="4600575" cy="152400"/>
            <a:chOff x="0" y="0"/>
            <a:chExt cx="6134100" cy="20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34100" cy="203200"/>
            </a:xfrm>
            <a:custGeom>
              <a:avLst/>
              <a:gdLst/>
              <a:ahLst/>
              <a:cxnLst/>
              <a:rect r="r" b="b" t="t" l="l"/>
              <a:pathLst>
                <a:path h="203200" w="613410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6078347" y="0"/>
                  </a:lnTo>
                  <a:cubicBezTo>
                    <a:pt x="6109208" y="0"/>
                    <a:pt x="6134100" y="24892"/>
                    <a:pt x="6134100" y="55753"/>
                  </a:cubicBezTo>
                  <a:lnTo>
                    <a:pt x="6134100" y="147447"/>
                  </a:lnTo>
                  <a:cubicBezTo>
                    <a:pt x="6134100" y="178181"/>
                    <a:pt x="6109208" y="203200"/>
                    <a:pt x="6078347" y="203200"/>
                  </a:cubicBezTo>
                  <a:lnTo>
                    <a:pt x="55753" y="203200"/>
                  </a:lnTo>
                  <a:cubicBezTo>
                    <a:pt x="24892" y="203200"/>
                    <a:pt x="0" y="178308"/>
                    <a:pt x="0" y="14744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594681" y="2054721"/>
            <a:ext cx="835819" cy="835819"/>
            <a:chOff x="0" y="0"/>
            <a:chExt cx="1114425" cy="11144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4425" cy="1114425"/>
            </a:xfrm>
            <a:custGeom>
              <a:avLst/>
              <a:gdLst/>
              <a:ahLst/>
              <a:cxnLst/>
              <a:rect r="r" b="b" t="t" l="l"/>
              <a:pathLst>
                <a:path h="1114425" w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4845456" y="2149376"/>
            <a:ext cx="334267" cy="53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29010" y="3140571"/>
            <a:ext cx="3482876" cy="46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Analytics 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29010" y="3676352"/>
            <a:ext cx="3967162" cy="232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Real-time performance metrics with confusion matrix visualization, class-wise accuracy, and feedback statistics.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833123" y="7013525"/>
            <a:ext cx="9479756" cy="2507159"/>
            <a:chOff x="0" y="0"/>
            <a:chExt cx="12639675" cy="33428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39675" cy="3342894"/>
            </a:xfrm>
            <a:custGeom>
              <a:avLst/>
              <a:gdLst/>
              <a:ahLst/>
              <a:cxnLst/>
              <a:rect r="r" b="b" t="t" l="l"/>
              <a:pathLst>
                <a:path h="3342894" w="1263967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2395835" y="0"/>
                  </a:lnTo>
                  <a:cubicBezTo>
                    <a:pt x="12530455" y="0"/>
                    <a:pt x="12639675" y="109220"/>
                    <a:pt x="12639675" y="243840"/>
                  </a:cubicBezTo>
                  <a:lnTo>
                    <a:pt x="12639675" y="3099054"/>
                  </a:lnTo>
                  <a:cubicBezTo>
                    <a:pt x="12639675" y="3233674"/>
                    <a:pt x="12530455" y="3342894"/>
                    <a:pt x="12395835" y="3342894"/>
                  </a:cubicBezTo>
                  <a:lnTo>
                    <a:pt x="243840" y="3342894"/>
                  </a:lnTo>
                  <a:cubicBezTo>
                    <a:pt x="109220" y="3342894"/>
                    <a:pt x="0" y="3233674"/>
                    <a:pt x="0" y="3099054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33123" y="6975425"/>
            <a:ext cx="9479756" cy="152400"/>
            <a:chOff x="0" y="0"/>
            <a:chExt cx="12639675" cy="203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39675" cy="203200"/>
            </a:xfrm>
            <a:custGeom>
              <a:avLst/>
              <a:gdLst/>
              <a:ahLst/>
              <a:cxnLst/>
              <a:rect r="r" b="b" t="t" l="l"/>
              <a:pathLst>
                <a:path h="203200" w="12639675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12583922" y="0"/>
                  </a:lnTo>
                  <a:cubicBezTo>
                    <a:pt x="12614656" y="0"/>
                    <a:pt x="12639675" y="24892"/>
                    <a:pt x="12639675" y="55753"/>
                  </a:cubicBezTo>
                  <a:lnTo>
                    <a:pt x="12639675" y="147447"/>
                  </a:lnTo>
                  <a:cubicBezTo>
                    <a:pt x="12639675" y="178181"/>
                    <a:pt x="12614783" y="203200"/>
                    <a:pt x="12583922" y="203200"/>
                  </a:cubicBezTo>
                  <a:lnTo>
                    <a:pt x="55753" y="203200"/>
                  </a:lnTo>
                  <a:cubicBezTo>
                    <a:pt x="24892" y="203200"/>
                    <a:pt x="0" y="178308"/>
                    <a:pt x="0" y="147447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55091" y="6595616"/>
            <a:ext cx="835819" cy="835819"/>
            <a:chOff x="0" y="0"/>
            <a:chExt cx="1114425" cy="11144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4425" cy="1114425"/>
            </a:xfrm>
            <a:custGeom>
              <a:avLst/>
              <a:gdLst/>
              <a:ahLst/>
              <a:cxnLst/>
              <a:rect r="r" b="b" t="t" l="l"/>
              <a:pathLst>
                <a:path h="1114425" w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405866" y="6690271"/>
            <a:ext cx="334267" cy="53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62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49829" y="7681466"/>
            <a:ext cx="3790950" cy="46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Security &amp; Performance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49829" y="8217248"/>
            <a:ext cx="8846344" cy="9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Rate limiting (100 req/60s), input validation, security headers (CSP), file upload protection, and async processing.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387" y="-81409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5924" y="985987"/>
            <a:ext cx="10242141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Workflow &amp; User Journey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924" y="2391371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5924" y="2939951"/>
            <a:ext cx="5245447" cy="38100"/>
            <a:chOff x="0" y="0"/>
            <a:chExt cx="699393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73052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Upload Image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86399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Drag &amp; drop or click to upload. Supports JPG, PNG, JPEG formats.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84889" y="2391371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84889" y="2939951"/>
            <a:ext cx="5245447" cy="38100"/>
            <a:chOff x="0" y="0"/>
            <a:chExt cx="699393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2" y="373052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Get Prediction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2" y="4286399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Model analyzes image and returns top-3 predictions with confidence scores.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13853" y="2391371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13853" y="2939951"/>
            <a:ext cx="5245447" cy="38100"/>
            <a:chOff x="0" y="0"/>
            <a:chExt cx="6993930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6" y="3730526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View Visualization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6" y="4286399"/>
            <a:ext cx="5245447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Grad-CAM heatmap overlay highlights important regions for visual explanation.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683" y="5723484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7683" y="6272064"/>
            <a:ext cx="8009930" cy="38100"/>
            <a:chOff x="0" y="0"/>
            <a:chExt cx="10679907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6216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Provide Feedback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18040"/>
            <a:ext cx="800993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Correct predictions if wrong, submit feedback, and model learns automatically.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91130" y="5723484"/>
            <a:ext cx="283518" cy="45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91130" y="6272064"/>
            <a:ext cx="8009930" cy="38100"/>
            <a:chOff x="0" y="0"/>
            <a:chExt cx="10679907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5" y="6862167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Analytics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5" y="7418040"/>
            <a:ext cx="8009930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View performance metrics, track improvements, and monitor usage.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500312"/>
            <a:chOff x="0" y="0"/>
            <a:chExt cx="24384000" cy="333375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333750"/>
            </a:xfrm>
            <a:custGeom>
              <a:avLst/>
              <a:gdLst/>
              <a:ahLst/>
              <a:cxnLst/>
              <a:rect r="r" b="b" t="t" l="l"/>
              <a:pathLst>
                <a:path h="33337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333750"/>
                  </a:lnTo>
                  <a:lnTo>
                    <a:pt x="0" y="333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5" r="0" b="-9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2857500"/>
            <a:ext cx="10167417" cy="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Incremental Learning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3852863"/>
            <a:ext cx="4038445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Traditional ML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750" y="4467225"/>
            <a:ext cx="650289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Train once, deploy, static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750" y="4838700"/>
            <a:ext cx="650289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Errors accumulate over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5210175"/>
            <a:ext cx="650289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375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Retraining requires full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43812" y="3948112"/>
            <a:ext cx="285750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Our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43812" y="4467225"/>
            <a:ext cx="998681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User feedback flows into correction log, smart sampling combines 70% feedback with 30% replay, fine-tunes model, and deploys updated version for better accuracy.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66750" y="5853112"/>
            <a:ext cx="8382000" cy="1859756"/>
            <a:chOff x="0" y="0"/>
            <a:chExt cx="11176000" cy="24796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76000" cy="2479675"/>
            </a:xfrm>
            <a:custGeom>
              <a:avLst/>
              <a:gdLst/>
              <a:ahLst/>
              <a:cxnLst/>
              <a:rect r="r" b="b" t="t" l="l"/>
              <a:pathLst>
                <a:path h="2479675" w="11176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1137900" y="0"/>
                  </a:lnTo>
                  <a:cubicBezTo>
                    <a:pt x="11158982" y="0"/>
                    <a:pt x="11176000" y="17018"/>
                    <a:pt x="11176000" y="38100"/>
                  </a:cubicBezTo>
                  <a:lnTo>
                    <a:pt x="11176000" y="2441575"/>
                  </a:lnTo>
                  <a:cubicBezTo>
                    <a:pt x="11176000" y="2462657"/>
                    <a:pt x="11158982" y="2479675"/>
                    <a:pt x="11137900" y="2479675"/>
                  </a:cubicBezTo>
                  <a:lnTo>
                    <a:pt x="38100" y="2479675"/>
                  </a:lnTo>
                  <a:cubicBezTo>
                    <a:pt x="17018" y="2479675"/>
                    <a:pt x="0" y="2462657"/>
                    <a:pt x="0" y="2441575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6043612"/>
            <a:ext cx="571500" cy="571500"/>
            <a:chOff x="0" y="0"/>
            <a:chExt cx="762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1014412" y="62007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57250" y="6767512"/>
            <a:ext cx="238125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Targeted Updates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7250" y="7160419"/>
            <a:ext cx="8001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Focus on classes with errors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39250" y="5853112"/>
            <a:ext cx="8382000" cy="1859756"/>
            <a:chOff x="0" y="0"/>
            <a:chExt cx="11176000" cy="24796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76000" cy="2479675"/>
            </a:xfrm>
            <a:custGeom>
              <a:avLst/>
              <a:gdLst/>
              <a:ahLst/>
              <a:cxnLst/>
              <a:rect r="r" b="b" t="t" l="l"/>
              <a:pathLst>
                <a:path h="2479675" w="11176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1137900" y="0"/>
                  </a:lnTo>
                  <a:cubicBezTo>
                    <a:pt x="11158982" y="0"/>
                    <a:pt x="11176000" y="17018"/>
                    <a:pt x="11176000" y="38100"/>
                  </a:cubicBezTo>
                  <a:lnTo>
                    <a:pt x="11176000" y="2441575"/>
                  </a:lnTo>
                  <a:cubicBezTo>
                    <a:pt x="11176000" y="2462657"/>
                    <a:pt x="11158982" y="2479675"/>
                    <a:pt x="11137900" y="2479675"/>
                  </a:cubicBezTo>
                  <a:lnTo>
                    <a:pt x="38100" y="2479675"/>
                  </a:lnTo>
                  <a:cubicBezTo>
                    <a:pt x="17018" y="2479675"/>
                    <a:pt x="0" y="2462657"/>
                    <a:pt x="0" y="2441575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29750" y="6043612"/>
            <a:ext cx="571500" cy="571500"/>
            <a:chOff x="0" y="0"/>
            <a:chExt cx="762000" cy="76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9586912" y="62007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555" t="0" r="-5555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429750" y="6767512"/>
            <a:ext cx="238125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Replay Mechanism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9750" y="7160419"/>
            <a:ext cx="8001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Prevents forgetting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66750" y="7903369"/>
            <a:ext cx="8382000" cy="1859756"/>
            <a:chOff x="0" y="0"/>
            <a:chExt cx="11176000" cy="24796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76000" cy="2479675"/>
            </a:xfrm>
            <a:custGeom>
              <a:avLst/>
              <a:gdLst/>
              <a:ahLst/>
              <a:cxnLst/>
              <a:rect r="r" b="b" t="t" l="l"/>
              <a:pathLst>
                <a:path h="2479675" w="11176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1137900" y="0"/>
                  </a:lnTo>
                  <a:cubicBezTo>
                    <a:pt x="11158982" y="0"/>
                    <a:pt x="11176000" y="17018"/>
                    <a:pt x="11176000" y="38100"/>
                  </a:cubicBezTo>
                  <a:lnTo>
                    <a:pt x="11176000" y="2441575"/>
                  </a:lnTo>
                  <a:cubicBezTo>
                    <a:pt x="11176000" y="2462657"/>
                    <a:pt x="11158982" y="2479675"/>
                    <a:pt x="11137900" y="2479675"/>
                  </a:cubicBezTo>
                  <a:lnTo>
                    <a:pt x="38100" y="2479675"/>
                  </a:lnTo>
                  <a:cubicBezTo>
                    <a:pt x="17018" y="2479675"/>
                    <a:pt x="0" y="2462657"/>
                    <a:pt x="0" y="2441575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250" y="8093869"/>
            <a:ext cx="571500" cy="571500"/>
            <a:chOff x="0" y="0"/>
            <a:chExt cx="762000" cy="762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1014412" y="8251031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2962" t="0" r="-12962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57250" y="8817769"/>
            <a:ext cx="238125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Fast Training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7250" y="9210675"/>
            <a:ext cx="8001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5-10 minutes per update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39250" y="7903369"/>
            <a:ext cx="8382000" cy="1859756"/>
            <a:chOff x="0" y="0"/>
            <a:chExt cx="11176000" cy="24796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76000" cy="2479675"/>
            </a:xfrm>
            <a:custGeom>
              <a:avLst/>
              <a:gdLst/>
              <a:ahLst/>
              <a:cxnLst/>
              <a:rect r="r" b="b" t="t" l="l"/>
              <a:pathLst>
                <a:path h="2479675" w="11176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1137900" y="0"/>
                  </a:lnTo>
                  <a:cubicBezTo>
                    <a:pt x="11158982" y="0"/>
                    <a:pt x="11176000" y="17018"/>
                    <a:pt x="11176000" y="38100"/>
                  </a:cubicBezTo>
                  <a:lnTo>
                    <a:pt x="11176000" y="2441575"/>
                  </a:lnTo>
                  <a:cubicBezTo>
                    <a:pt x="11176000" y="2462657"/>
                    <a:pt x="11158982" y="2479675"/>
                    <a:pt x="11137900" y="2479675"/>
                  </a:cubicBezTo>
                  <a:lnTo>
                    <a:pt x="38100" y="2479675"/>
                  </a:lnTo>
                  <a:cubicBezTo>
                    <a:pt x="17018" y="2479675"/>
                    <a:pt x="0" y="2462657"/>
                    <a:pt x="0" y="2441575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29750" y="8093869"/>
            <a:ext cx="571500" cy="571500"/>
            <a:chOff x="0" y="0"/>
            <a:chExt cx="762000" cy="762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9586912" y="8251031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9259" t="0" r="-9259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429750" y="8817769"/>
            <a:ext cx="3585657" cy="31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Measurable Improvement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29750" y="9210675"/>
            <a:ext cx="8001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Track accuracy gains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7200900" cy="10296822"/>
            <a:chOff x="0" y="0"/>
            <a:chExt cx="9601200" cy="1372909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29081"/>
            </a:xfrm>
            <a:custGeom>
              <a:avLst/>
              <a:gdLst/>
              <a:ahLst/>
              <a:cxnLst/>
              <a:rect r="r" b="b" t="t" l="l"/>
              <a:pathLst>
                <a:path h="13729081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29081"/>
                  </a:lnTo>
                  <a:lnTo>
                    <a:pt x="0" y="13729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85931" y="593229"/>
            <a:ext cx="9509075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Deployment &amp; Infrastructure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71644" y="1730127"/>
            <a:ext cx="9802714" cy="1826716"/>
            <a:chOff x="0" y="0"/>
            <a:chExt cx="13070285" cy="24356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3032105" cy="2397506"/>
            </a:xfrm>
            <a:custGeom>
              <a:avLst/>
              <a:gdLst/>
              <a:ahLst/>
              <a:cxnLst/>
              <a:rect r="r" b="b" t="t" l="l"/>
              <a:pathLst>
                <a:path h="2397506" w="13032105">
                  <a:moveTo>
                    <a:pt x="0" y="47244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12984226" y="0"/>
                  </a:lnTo>
                  <a:cubicBezTo>
                    <a:pt x="13010642" y="0"/>
                    <a:pt x="13032105" y="21209"/>
                    <a:pt x="13032105" y="47244"/>
                  </a:cubicBezTo>
                  <a:lnTo>
                    <a:pt x="13032105" y="2350262"/>
                  </a:lnTo>
                  <a:cubicBezTo>
                    <a:pt x="13032105" y="2376424"/>
                    <a:pt x="13010642" y="2397506"/>
                    <a:pt x="12984226" y="2397506"/>
                  </a:cubicBezTo>
                  <a:lnTo>
                    <a:pt x="47879" y="2397506"/>
                  </a:lnTo>
                  <a:cubicBezTo>
                    <a:pt x="21463" y="2397506"/>
                    <a:pt x="0" y="2376297"/>
                    <a:pt x="0" y="2350262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70205" cy="2435606"/>
            </a:xfrm>
            <a:custGeom>
              <a:avLst/>
              <a:gdLst/>
              <a:ahLst/>
              <a:cxnLst/>
              <a:rect r="r" b="b" t="t" l="l"/>
              <a:pathLst>
                <a:path h="2435606" w="13070205">
                  <a:moveTo>
                    <a:pt x="0" y="66294"/>
                  </a:moveTo>
                  <a:cubicBezTo>
                    <a:pt x="0" y="29464"/>
                    <a:pt x="30226" y="0"/>
                    <a:pt x="66929" y="0"/>
                  </a:cubicBezTo>
                  <a:lnTo>
                    <a:pt x="13003276" y="0"/>
                  </a:lnTo>
                  <a:lnTo>
                    <a:pt x="13003276" y="19050"/>
                  </a:lnTo>
                  <a:lnTo>
                    <a:pt x="13003276" y="0"/>
                  </a:lnTo>
                  <a:cubicBezTo>
                    <a:pt x="13039979" y="0"/>
                    <a:pt x="13070205" y="29464"/>
                    <a:pt x="13070205" y="66294"/>
                  </a:cubicBezTo>
                  <a:lnTo>
                    <a:pt x="13051155" y="66294"/>
                  </a:lnTo>
                  <a:lnTo>
                    <a:pt x="13070205" y="66294"/>
                  </a:lnTo>
                  <a:lnTo>
                    <a:pt x="13070205" y="2369312"/>
                  </a:lnTo>
                  <a:lnTo>
                    <a:pt x="13051155" y="2369312"/>
                  </a:lnTo>
                  <a:lnTo>
                    <a:pt x="13070205" y="2369312"/>
                  </a:lnTo>
                  <a:cubicBezTo>
                    <a:pt x="13070205" y="2406142"/>
                    <a:pt x="13039979" y="2435606"/>
                    <a:pt x="13003276" y="2435606"/>
                  </a:cubicBezTo>
                  <a:lnTo>
                    <a:pt x="13003276" y="2416556"/>
                  </a:lnTo>
                  <a:lnTo>
                    <a:pt x="13003276" y="2435606"/>
                  </a:lnTo>
                  <a:lnTo>
                    <a:pt x="66929" y="2435606"/>
                  </a:lnTo>
                  <a:lnTo>
                    <a:pt x="66929" y="2416556"/>
                  </a:lnTo>
                  <a:lnTo>
                    <a:pt x="66929" y="2435606"/>
                  </a:lnTo>
                  <a:cubicBezTo>
                    <a:pt x="30226" y="2435606"/>
                    <a:pt x="0" y="2406142"/>
                    <a:pt x="0" y="2369312"/>
                  </a:cubicBezTo>
                  <a:lnTo>
                    <a:pt x="0" y="66294"/>
                  </a:lnTo>
                  <a:lnTo>
                    <a:pt x="19050" y="66294"/>
                  </a:lnTo>
                  <a:lnTo>
                    <a:pt x="0" y="66294"/>
                  </a:lnTo>
                  <a:moveTo>
                    <a:pt x="38100" y="66294"/>
                  </a:moveTo>
                  <a:lnTo>
                    <a:pt x="38100" y="2369312"/>
                  </a:lnTo>
                  <a:lnTo>
                    <a:pt x="19050" y="2369312"/>
                  </a:lnTo>
                  <a:lnTo>
                    <a:pt x="38100" y="2369312"/>
                  </a:lnTo>
                  <a:cubicBezTo>
                    <a:pt x="38100" y="2384679"/>
                    <a:pt x="50800" y="2397506"/>
                    <a:pt x="66929" y="2397506"/>
                  </a:cubicBezTo>
                  <a:lnTo>
                    <a:pt x="13003276" y="2397506"/>
                  </a:lnTo>
                  <a:cubicBezTo>
                    <a:pt x="13019405" y="2397506"/>
                    <a:pt x="13032105" y="2384679"/>
                    <a:pt x="13032105" y="2369312"/>
                  </a:cubicBezTo>
                  <a:lnTo>
                    <a:pt x="13032105" y="66294"/>
                  </a:lnTo>
                  <a:cubicBezTo>
                    <a:pt x="13032105" y="50927"/>
                    <a:pt x="13019405" y="38100"/>
                    <a:pt x="13003276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800" y="38100"/>
                    <a:pt x="38100" y="50927"/>
                    <a:pt x="38100" y="66294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14506" y="1772990"/>
            <a:ext cx="946100" cy="1740991"/>
            <a:chOff x="0" y="0"/>
            <a:chExt cx="1261467" cy="23213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491" cy="2321433"/>
            </a:xfrm>
            <a:custGeom>
              <a:avLst/>
              <a:gdLst/>
              <a:ahLst/>
              <a:cxnLst/>
              <a:rect r="r" b="b" t="t" l="l"/>
              <a:pathLst>
                <a:path h="2321433" w="1261491">
                  <a:moveTo>
                    <a:pt x="0" y="1651"/>
                  </a:moveTo>
                  <a:cubicBezTo>
                    <a:pt x="0" y="762"/>
                    <a:pt x="762" y="0"/>
                    <a:pt x="1651" y="0"/>
                  </a:cubicBezTo>
                  <a:lnTo>
                    <a:pt x="1259840" y="0"/>
                  </a:lnTo>
                  <a:cubicBezTo>
                    <a:pt x="1260729" y="0"/>
                    <a:pt x="1261491" y="762"/>
                    <a:pt x="1261491" y="1651"/>
                  </a:cubicBezTo>
                  <a:lnTo>
                    <a:pt x="1261491" y="2319782"/>
                  </a:lnTo>
                  <a:cubicBezTo>
                    <a:pt x="1261491" y="2320671"/>
                    <a:pt x="1260729" y="2321433"/>
                    <a:pt x="1259840" y="2321433"/>
                  </a:cubicBezTo>
                  <a:lnTo>
                    <a:pt x="1651" y="2321433"/>
                  </a:lnTo>
                  <a:cubicBezTo>
                    <a:pt x="762" y="2321433"/>
                    <a:pt x="0" y="2320671"/>
                    <a:pt x="0" y="231978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8010079" y="2466082"/>
            <a:ext cx="354806" cy="354806"/>
          </a:xfrm>
          <a:custGeom>
            <a:avLst/>
            <a:gdLst/>
            <a:ahLst/>
            <a:cxnLst/>
            <a:rect r="r" b="b" t="t" l="l"/>
            <a:pathLst>
              <a:path h="354806" w="354806">
                <a:moveTo>
                  <a:pt x="0" y="0"/>
                </a:moveTo>
                <a:lnTo>
                  <a:pt x="354806" y="0"/>
                </a:lnTo>
                <a:lnTo>
                  <a:pt x="354806" y="354807"/>
                </a:lnTo>
                <a:lnTo>
                  <a:pt x="0" y="354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631" r="0" b="-263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97094" y="1980903"/>
            <a:ext cx="2956918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Docker Deployment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97094" y="2435126"/>
            <a:ext cx="8297912" cy="8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Containerized deployment with docker-compose. App runs on port 8000, TensorBoard on port 6006.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671644" y="3764756"/>
            <a:ext cx="9802714" cy="1826716"/>
            <a:chOff x="0" y="0"/>
            <a:chExt cx="13070285" cy="24356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13032105" cy="2397506"/>
            </a:xfrm>
            <a:custGeom>
              <a:avLst/>
              <a:gdLst/>
              <a:ahLst/>
              <a:cxnLst/>
              <a:rect r="r" b="b" t="t" l="l"/>
              <a:pathLst>
                <a:path h="2397506" w="13032105">
                  <a:moveTo>
                    <a:pt x="0" y="47244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12984226" y="0"/>
                  </a:lnTo>
                  <a:cubicBezTo>
                    <a:pt x="13010642" y="0"/>
                    <a:pt x="13032105" y="21209"/>
                    <a:pt x="13032105" y="47244"/>
                  </a:cubicBezTo>
                  <a:lnTo>
                    <a:pt x="13032105" y="2350262"/>
                  </a:lnTo>
                  <a:cubicBezTo>
                    <a:pt x="13032105" y="2376424"/>
                    <a:pt x="13010642" y="2397506"/>
                    <a:pt x="12984226" y="2397506"/>
                  </a:cubicBezTo>
                  <a:lnTo>
                    <a:pt x="47879" y="2397506"/>
                  </a:lnTo>
                  <a:cubicBezTo>
                    <a:pt x="21463" y="2397506"/>
                    <a:pt x="0" y="2376297"/>
                    <a:pt x="0" y="2350262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70205" cy="2435606"/>
            </a:xfrm>
            <a:custGeom>
              <a:avLst/>
              <a:gdLst/>
              <a:ahLst/>
              <a:cxnLst/>
              <a:rect r="r" b="b" t="t" l="l"/>
              <a:pathLst>
                <a:path h="2435606" w="13070205">
                  <a:moveTo>
                    <a:pt x="0" y="66294"/>
                  </a:moveTo>
                  <a:cubicBezTo>
                    <a:pt x="0" y="29464"/>
                    <a:pt x="30226" y="0"/>
                    <a:pt x="66929" y="0"/>
                  </a:cubicBezTo>
                  <a:lnTo>
                    <a:pt x="13003276" y="0"/>
                  </a:lnTo>
                  <a:lnTo>
                    <a:pt x="13003276" y="19050"/>
                  </a:lnTo>
                  <a:lnTo>
                    <a:pt x="13003276" y="0"/>
                  </a:lnTo>
                  <a:cubicBezTo>
                    <a:pt x="13039979" y="0"/>
                    <a:pt x="13070205" y="29464"/>
                    <a:pt x="13070205" y="66294"/>
                  </a:cubicBezTo>
                  <a:lnTo>
                    <a:pt x="13051155" y="66294"/>
                  </a:lnTo>
                  <a:lnTo>
                    <a:pt x="13070205" y="66294"/>
                  </a:lnTo>
                  <a:lnTo>
                    <a:pt x="13070205" y="2369312"/>
                  </a:lnTo>
                  <a:lnTo>
                    <a:pt x="13051155" y="2369312"/>
                  </a:lnTo>
                  <a:lnTo>
                    <a:pt x="13070205" y="2369312"/>
                  </a:lnTo>
                  <a:cubicBezTo>
                    <a:pt x="13070205" y="2406142"/>
                    <a:pt x="13039979" y="2435606"/>
                    <a:pt x="13003276" y="2435606"/>
                  </a:cubicBezTo>
                  <a:lnTo>
                    <a:pt x="13003276" y="2416556"/>
                  </a:lnTo>
                  <a:lnTo>
                    <a:pt x="13003276" y="2435606"/>
                  </a:lnTo>
                  <a:lnTo>
                    <a:pt x="66929" y="2435606"/>
                  </a:lnTo>
                  <a:lnTo>
                    <a:pt x="66929" y="2416556"/>
                  </a:lnTo>
                  <a:lnTo>
                    <a:pt x="66929" y="2435606"/>
                  </a:lnTo>
                  <a:cubicBezTo>
                    <a:pt x="30226" y="2435606"/>
                    <a:pt x="0" y="2406142"/>
                    <a:pt x="0" y="2369312"/>
                  </a:cubicBezTo>
                  <a:lnTo>
                    <a:pt x="0" y="66294"/>
                  </a:lnTo>
                  <a:lnTo>
                    <a:pt x="19050" y="66294"/>
                  </a:lnTo>
                  <a:lnTo>
                    <a:pt x="0" y="66294"/>
                  </a:lnTo>
                  <a:moveTo>
                    <a:pt x="38100" y="66294"/>
                  </a:moveTo>
                  <a:lnTo>
                    <a:pt x="38100" y="2369312"/>
                  </a:lnTo>
                  <a:lnTo>
                    <a:pt x="19050" y="2369312"/>
                  </a:lnTo>
                  <a:lnTo>
                    <a:pt x="38100" y="2369312"/>
                  </a:lnTo>
                  <a:cubicBezTo>
                    <a:pt x="38100" y="2384679"/>
                    <a:pt x="50800" y="2397506"/>
                    <a:pt x="66929" y="2397506"/>
                  </a:cubicBezTo>
                  <a:lnTo>
                    <a:pt x="13003276" y="2397506"/>
                  </a:lnTo>
                  <a:cubicBezTo>
                    <a:pt x="13019405" y="2397506"/>
                    <a:pt x="13032105" y="2384679"/>
                    <a:pt x="13032105" y="2369312"/>
                  </a:cubicBezTo>
                  <a:lnTo>
                    <a:pt x="13032105" y="66294"/>
                  </a:lnTo>
                  <a:cubicBezTo>
                    <a:pt x="13032105" y="50927"/>
                    <a:pt x="13019405" y="38100"/>
                    <a:pt x="13003276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800" y="38100"/>
                    <a:pt x="38100" y="50927"/>
                    <a:pt x="38100" y="66294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714506" y="3807619"/>
            <a:ext cx="946100" cy="1740991"/>
            <a:chOff x="0" y="0"/>
            <a:chExt cx="1261467" cy="23213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1491" cy="2321433"/>
            </a:xfrm>
            <a:custGeom>
              <a:avLst/>
              <a:gdLst/>
              <a:ahLst/>
              <a:cxnLst/>
              <a:rect r="r" b="b" t="t" l="l"/>
              <a:pathLst>
                <a:path h="2321433" w="1261491">
                  <a:moveTo>
                    <a:pt x="0" y="1651"/>
                  </a:moveTo>
                  <a:cubicBezTo>
                    <a:pt x="0" y="762"/>
                    <a:pt x="762" y="0"/>
                    <a:pt x="1651" y="0"/>
                  </a:cubicBezTo>
                  <a:lnTo>
                    <a:pt x="1259840" y="0"/>
                  </a:lnTo>
                  <a:cubicBezTo>
                    <a:pt x="1260729" y="0"/>
                    <a:pt x="1261491" y="762"/>
                    <a:pt x="1261491" y="1651"/>
                  </a:cubicBezTo>
                  <a:lnTo>
                    <a:pt x="1261491" y="2319782"/>
                  </a:lnTo>
                  <a:cubicBezTo>
                    <a:pt x="1261491" y="2320671"/>
                    <a:pt x="1260729" y="2321433"/>
                    <a:pt x="1259840" y="2321433"/>
                  </a:cubicBezTo>
                  <a:lnTo>
                    <a:pt x="1651" y="2321433"/>
                  </a:lnTo>
                  <a:cubicBezTo>
                    <a:pt x="762" y="2321433"/>
                    <a:pt x="0" y="2320671"/>
                    <a:pt x="0" y="231978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8010079" y="4500711"/>
            <a:ext cx="354806" cy="354806"/>
          </a:xfrm>
          <a:custGeom>
            <a:avLst/>
            <a:gdLst/>
            <a:ahLst/>
            <a:cxnLst/>
            <a:rect r="r" b="b" t="t" l="l"/>
            <a:pathLst>
              <a:path h="354806" w="354806">
                <a:moveTo>
                  <a:pt x="0" y="0"/>
                </a:moveTo>
                <a:lnTo>
                  <a:pt x="354806" y="0"/>
                </a:lnTo>
                <a:lnTo>
                  <a:pt x="354806" y="354807"/>
                </a:lnTo>
                <a:lnTo>
                  <a:pt x="0" y="354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897094" y="4015531"/>
            <a:ext cx="2956918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Testing &amp; Quality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97094" y="4469755"/>
            <a:ext cx="8297912" cy="8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Comprehensive pytest suite with 80%+ code coverage. Unit and integration tests for API endpoints.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71644" y="5799385"/>
            <a:ext cx="9802714" cy="1826716"/>
            <a:chOff x="0" y="0"/>
            <a:chExt cx="13070285" cy="24356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13032105" cy="2397506"/>
            </a:xfrm>
            <a:custGeom>
              <a:avLst/>
              <a:gdLst/>
              <a:ahLst/>
              <a:cxnLst/>
              <a:rect r="r" b="b" t="t" l="l"/>
              <a:pathLst>
                <a:path h="2397506" w="13032105">
                  <a:moveTo>
                    <a:pt x="0" y="47244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12984226" y="0"/>
                  </a:lnTo>
                  <a:cubicBezTo>
                    <a:pt x="13010642" y="0"/>
                    <a:pt x="13032105" y="21209"/>
                    <a:pt x="13032105" y="47244"/>
                  </a:cubicBezTo>
                  <a:lnTo>
                    <a:pt x="13032105" y="2350262"/>
                  </a:lnTo>
                  <a:cubicBezTo>
                    <a:pt x="13032105" y="2376424"/>
                    <a:pt x="13010642" y="2397506"/>
                    <a:pt x="12984226" y="2397506"/>
                  </a:cubicBezTo>
                  <a:lnTo>
                    <a:pt x="47879" y="2397506"/>
                  </a:lnTo>
                  <a:cubicBezTo>
                    <a:pt x="21463" y="2397506"/>
                    <a:pt x="0" y="2376297"/>
                    <a:pt x="0" y="2350262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70205" cy="2435606"/>
            </a:xfrm>
            <a:custGeom>
              <a:avLst/>
              <a:gdLst/>
              <a:ahLst/>
              <a:cxnLst/>
              <a:rect r="r" b="b" t="t" l="l"/>
              <a:pathLst>
                <a:path h="2435606" w="13070205">
                  <a:moveTo>
                    <a:pt x="0" y="66294"/>
                  </a:moveTo>
                  <a:cubicBezTo>
                    <a:pt x="0" y="29464"/>
                    <a:pt x="30226" y="0"/>
                    <a:pt x="66929" y="0"/>
                  </a:cubicBezTo>
                  <a:lnTo>
                    <a:pt x="13003276" y="0"/>
                  </a:lnTo>
                  <a:lnTo>
                    <a:pt x="13003276" y="19050"/>
                  </a:lnTo>
                  <a:lnTo>
                    <a:pt x="13003276" y="0"/>
                  </a:lnTo>
                  <a:cubicBezTo>
                    <a:pt x="13039979" y="0"/>
                    <a:pt x="13070205" y="29464"/>
                    <a:pt x="13070205" y="66294"/>
                  </a:cubicBezTo>
                  <a:lnTo>
                    <a:pt x="13051155" y="66294"/>
                  </a:lnTo>
                  <a:lnTo>
                    <a:pt x="13070205" y="66294"/>
                  </a:lnTo>
                  <a:lnTo>
                    <a:pt x="13070205" y="2369312"/>
                  </a:lnTo>
                  <a:lnTo>
                    <a:pt x="13051155" y="2369312"/>
                  </a:lnTo>
                  <a:lnTo>
                    <a:pt x="13070205" y="2369312"/>
                  </a:lnTo>
                  <a:cubicBezTo>
                    <a:pt x="13070205" y="2406142"/>
                    <a:pt x="13039979" y="2435606"/>
                    <a:pt x="13003276" y="2435606"/>
                  </a:cubicBezTo>
                  <a:lnTo>
                    <a:pt x="13003276" y="2416556"/>
                  </a:lnTo>
                  <a:lnTo>
                    <a:pt x="13003276" y="2435606"/>
                  </a:lnTo>
                  <a:lnTo>
                    <a:pt x="66929" y="2435606"/>
                  </a:lnTo>
                  <a:lnTo>
                    <a:pt x="66929" y="2416556"/>
                  </a:lnTo>
                  <a:lnTo>
                    <a:pt x="66929" y="2435606"/>
                  </a:lnTo>
                  <a:cubicBezTo>
                    <a:pt x="30226" y="2435606"/>
                    <a:pt x="0" y="2406142"/>
                    <a:pt x="0" y="2369312"/>
                  </a:cubicBezTo>
                  <a:lnTo>
                    <a:pt x="0" y="66294"/>
                  </a:lnTo>
                  <a:lnTo>
                    <a:pt x="19050" y="66294"/>
                  </a:lnTo>
                  <a:lnTo>
                    <a:pt x="0" y="66294"/>
                  </a:lnTo>
                  <a:moveTo>
                    <a:pt x="38100" y="66294"/>
                  </a:moveTo>
                  <a:lnTo>
                    <a:pt x="38100" y="2369312"/>
                  </a:lnTo>
                  <a:lnTo>
                    <a:pt x="19050" y="2369312"/>
                  </a:lnTo>
                  <a:lnTo>
                    <a:pt x="38100" y="2369312"/>
                  </a:lnTo>
                  <a:cubicBezTo>
                    <a:pt x="38100" y="2384679"/>
                    <a:pt x="50800" y="2397506"/>
                    <a:pt x="66929" y="2397506"/>
                  </a:cubicBezTo>
                  <a:lnTo>
                    <a:pt x="13003276" y="2397506"/>
                  </a:lnTo>
                  <a:cubicBezTo>
                    <a:pt x="13019405" y="2397506"/>
                    <a:pt x="13032105" y="2384679"/>
                    <a:pt x="13032105" y="2369312"/>
                  </a:cubicBezTo>
                  <a:lnTo>
                    <a:pt x="13032105" y="66294"/>
                  </a:lnTo>
                  <a:cubicBezTo>
                    <a:pt x="13032105" y="50927"/>
                    <a:pt x="13019405" y="38100"/>
                    <a:pt x="13003276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800" y="38100"/>
                    <a:pt x="38100" y="50927"/>
                    <a:pt x="38100" y="66294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14506" y="5842248"/>
            <a:ext cx="946100" cy="1740991"/>
            <a:chOff x="0" y="0"/>
            <a:chExt cx="1261467" cy="23213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1491" cy="2321433"/>
            </a:xfrm>
            <a:custGeom>
              <a:avLst/>
              <a:gdLst/>
              <a:ahLst/>
              <a:cxnLst/>
              <a:rect r="r" b="b" t="t" l="l"/>
              <a:pathLst>
                <a:path h="2321433" w="1261491">
                  <a:moveTo>
                    <a:pt x="0" y="1651"/>
                  </a:moveTo>
                  <a:cubicBezTo>
                    <a:pt x="0" y="762"/>
                    <a:pt x="762" y="0"/>
                    <a:pt x="1651" y="0"/>
                  </a:cubicBezTo>
                  <a:lnTo>
                    <a:pt x="1259840" y="0"/>
                  </a:lnTo>
                  <a:cubicBezTo>
                    <a:pt x="1260729" y="0"/>
                    <a:pt x="1261491" y="762"/>
                    <a:pt x="1261491" y="1651"/>
                  </a:cubicBezTo>
                  <a:lnTo>
                    <a:pt x="1261491" y="2319782"/>
                  </a:lnTo>
                  <a:cubicBezTo>
                    <a:pt x="1261491" y="2320671"/>
                    <a:pt x="1260729" y="2321433"/>
                    <a:pt x="1259840" y="2321433"/>
                  </a:cubicBezTo>
                  <a:lnTo>
                    <a:pt x="1651" y="2321433"/>
                  </a:lnTo>
                  <a:cubicBezTo>
                    <a:pt x="762" y="2321433"/>
                    <a:pt x="0" y="2320671"/>
                    <a:pt x="0" y="231978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8010079" y="6535341"/>
            <a:ext cx="354806" cy="354806"/>
          </a:xfrm>
          <a:custGeom>
            <a:avLst/>
            <a:gdLst/>
            <a:ahLst/>
            <a:cxnLst/>
            <a:rect r="r" b="b" t="t" l="l"/>
            <a:pathLst>
              <a:path h="354806" w="354806">
                <a:moveTo>
                  <a:pt x="0" y="0"/>
                </a:moveTo>
                <a:lnTo>
                  <a:pt x="354806" y="0"/>
                </a:lnTo>
                <a:lnTo>
                  <a:pt x="354806" y="354807"/>
                </a:lnTo>
                <a:lnTo>
                  <a:pt x="0" y="354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315" t="0" r="-1315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897094" y="6050161"/>
            <a:ext cx="2956918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Monitoring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97094" y="6504385"/>
            <a:ext cx="8297912" cy="8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Health check endpoints, TensorBoard integration, analytics dashboard, and real-time metrics.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671644" y="7834015"/>
            <a:ext cx="9802714" cy="1826716"/>
            <a:chOff x="0" y="0"/>
            <a:chExt cx="13070285" cy="24356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13032105" cy="2397506"/>
            </a:xfrm>
            <a:custGeom>
              <a:avLst/>
              <a:gdLst/>
              <a:ahLst/>
              <a:cxnLst/>
              <a:rect r="r" b="b" t="t" l="l"/>
              <a:pathLst>
                <a:path h="2397506" w="13032105">
                  <a:moveTo>
                    <a:pt x="0" y="47244"/>
                  </a:moveTo>
                  <a:cubicBezTo>
                    <a:pt x="0" y="21209"/>
                    <a:pt x="21463" y="0"/>
                    <a:pt x="47879" y="0"/>
                  </a:cubicBezTo>
                  <a:lnTo>
                    <a:pt x="12984226" y="0"/>
                  </a:lnTo>
                  <a:cubicBezTo>
                    <a:pt x="13010642" y="0"/>
                    <a:pt x="13032105" y="21209"/>
                    <a:pt x="13032105" y="47244"/>
                  </a:cubicBezTo>
                  <a:lnTo>
                    <a:pt x="13032105" y="2350262"/>
                  </a:lnTo>
                  <a:cubicBezTo>
                    <a:pt x="13032105" y="2376424"/>
                    <a:pt x="13010642" y="2397506"/>
                    <a:pt x="12984226" y="2397506"/>
                  </a:cubicBezTo>
                  <a:lnTo>
                    <a:pt x="47879" y="2397506"/>
                  </a:lnTo>
                  <a:cubicBezTo>
                    <a:pt x="21463" y="2397506"/>
                    <a:pt x="0" y="2376297"/>
                    <a:pt x="0" y="2350262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070205" cy="2435606"/>
            </a:xfrm>
            <a:custGeom>
              <a:avLst/>
              <a:gdLst/>
              <a:ahLst/>
              <a:cxnLst/>
              <a:rect r="r" b="b" t="t" l="l"/>
              <a:pathLst>
                <a:path h="2435606" w="13070205">
                  <a:moveTo>
                    <a:pt x="0" y="66294"/>
                  </a:moveTo>
                  <a:cubicBezTo>
                    <a:pt x="0" y="29464"/>
                    <a:pt x="30226" y="0"/>
                    <a:pt x="66929" y="0"/>
                  </a:cubicBezTo>
                  <a:lnTo>
                    <a:pt x="13003276" y="0"/>
                  </a:lnTo>
                  <a:lnTo>
                    <a:pt x="13003276" y="19050"/>
                  </a:lnTo>
                  <a:lnTo>
                    <a:pt x="13003276" y="0"/>
                  </a:lnTo>
                  <a:cubicBezTo>
                    <a:pt x="13039979" y="0"/>
                    <a:pt x="13070205" y="29464"/>
                    <a:pt x="13070205" y="66294"/>
                  </a:cubicBezTo>
                  <a:lnTo>
                    <a:pt x="13051155" y="66294"/>
                  </a:lnTo>
                  <a:lnTo>
                    <a:pt x="13070205" y="66294"/>
                  </a:lnTo>
                  <a:lnTo>
                    <a:pt x="13070205" y="2369312"/>
                  </a:lnTo>
                  <a:lnTo>
                    <a:pt x="13051155" y="2369312"/>
                  </a:lnTo>
                  <a:lnTo>
                    <a:pt x="13070205" y="2369312"/>
                  </a:lnTo>
                  <a:cubicBezTo>
                    <a:pt x="13070205" y="2406142"/>
                    <a:pt x="13039979" y="2435606"/>
                    <a:pt x="13003276" y="2435606"/>
                  </a:cubicBezTo>
                  <a:lnTo>
                    <a:pt x="13003276" y="2416556"/>
                  </a:lnTo>
                  <a:lnTo>
                    <a:pt x="13003276" y="2435606"/>
                  </a:lnTo>
                  <a:lnTo>
                    <a:pt x="66929" y="2435606"/>
                  </a:lnTo>
                  <a:lnTo>
                    <a:pt x="66929" y="2416556"/>
                  </a:lnTo>
                  <a:lnTo>
                    <a:pt x="66929" y="2435606"/>
                  </a:lnTo>
                  <a:cubicBezTo>
                    <a:pt x="30226" y="2435606"/>
                    <a:pt x="0" y="2406142"/>
                    <a:pt x="0" y="2369312"/>
                  </a:cubicBezTo>
                  <a:lnTo>
                    <a:pt x="0" y="66294"/>
                  </a:lnTo>
                  <a:lnTo>
                    <a:pt x="19050" y="66294"/>
                  </a:lnTo>
                  <a:lnTo>
                    <a:pt x="0" y="66294"/>
                  </a:lnTo>
                  <a:moveTo>
                    <a:pt x="38100" y="66294"/>
                  </a:moveTo>
                  <a:lnTo>
                    <a:pt x="38100" y="2369312"/>
                  </a:lnTo>
                  <a:lnTo>
                    <a:pt x="19050" y="2369312"/>
                  </a:lnTo>
                  <a:lnTo>
                    <a:pt x="38100" y="2369312"/>
                  </a:lnTo>
                  <a:cubicBezTo>
                    <a:pt x="38100" y="2384679"/>
                    <a:pt x="50800" y="2397506"/>
                    <a:pt x="66929" y="2397506"/>
                  </a:cubicBezTo>
                  <a:lnTo>
                    <a:pt x="13003276" y="2397506"/>
                  </a:lnTo>
                  <a:cubicBezTo>
                    <a:pt x="13019405" y="2397506"/>
                    <a:pt x="13032105" y="2384679"/>
                    <a:pt x="13032105" y="2369312"/>
                  </a:cubicBezTo>
                  <a:lnTo>
                    <a:pt x="13032105" y="66294"/>
                  </a:lnTo>
                  <a:cubicBezTo>
                    <a:pt x="13032105" y="50927"/>
                    <a:pt x="13019405" y="38100"/>
                    <a:pt x="13003276" y="38100"/>
                  </a:cubicBezTo>
                  <a:lnTo>
                    <a:pt x="66929" y="38100"/>
                  </a:lnTo>
                  <a:lnTo>
                    <a:pt x="66929" y="19050"/>
                  </a:lnTo>
                  <a:lnTo>
                    <a:pt x="66929" y="38100"/>
                  </a:lnTo>
                  <a:cubicBezTo>
                    <a:pt x="50800" y="38100"/>
                    <a:pt x="38100" y="50927"/>
                    <a:pt x="38100" y="66294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714506" y="7876877"/>
            <a:ext cx="946100" cy="1740991"/>
            <a:chOff x="0" y="0"/>
            <a:chExt cx="1261467" cy="232132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61491" cy="2321433"/>
            </a:xfrm>
            <a:custGeom>
              <a:avLst/>
              <a:gdLst/>
              <a:ahLst/>
              <a:cxnLst/>
              <a:rect r="r" b="b" t="t" l="l"/>
              <a:pathLst>
                <a:path h="2321433" w="1261491">
                  <a:moveTo>
                    <a:pt x="0" y="1651"/>
                  </a:moveTo>
                  <a:cubicBezTo>
                    <a:pt x="0" y="762"/>
                    <a:pt x="762" y="0"/>
                    <a:pt x="1651" y="0"/>
                  </a:cubicBezTo>
                  <a:lnTo>
                    <a:pt x="1259840" y="0"/>
                  </a:lnTo>
                  <a:cubicBezTo>
                    <a:pt x="1260729" y="0"/>
                    <a:pt x="1261491" y="762"/>
                    <a:pt x="1261491" y="1651"/>
                  </a:cubicBezTo>
                  <a:lnTo>
                    <a:pt x="1261491" y="2319782"/>
                  </a:lnTo>
                  <a:cubicBezTo>
                    <a:pt x="1261491" y="2320671"/>
                    <a:pt x="1260729" y="2321433"/>
                    <a:pt x="1259840" y="2321433"/>
                  </a:cubicBezTo>
                  <a:lnTo>
                    <a:pt x="1651" y="2321433"/>
                  </a:lnTo>
                  <a:cubicBezTo>
                    <a:pt x="762" y="2321433"/>
                    <a:pt x="0" y="2320671"/>
                    <a:pt x="0" y="231978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8010079" y="8569970"/>
            <a:ext cx="354806" cy="354806"/>
          </a:xfrm>
          <a:custGeom>
            <a:avLst/>
            <a:gdLst/>
            <a:ahLst/>
            <a:cxnLst/>
            <a:rect r="r" b="b" t="t" l="l"/>
            <a:pathLst>
              <a:path h="354806" w="354806">
                <a:moveTo>
                  <a:pt x="0" y="0"/>
                </a:moveTo>
                <a:lnTo>
                  <a:pt x="354806" y="0"/>
                </a:lnTo>
                <a:lnTo>
                  <a:pt x="354806" y="354806"/>
                </a:lnTo>
                <a:lnTo>
                  <a:pt x="0" y="354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0263" r="0" b="-30263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897094" y="8084790"/>
            <a:ext cx="2956918" cy="39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Scalability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97094" y="8539014"/>
            <a:ext cx="8297912" cy="84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Easy horizontal scaling, cloud-ready for AWS, Azure, GCP, Render with environment-based configuration.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7764" y="475358"/>
            <a:ext cx="7063382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7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Impact &amp; Future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764" y="1697831"/>
            <a:ext cx="5482829" cy="56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49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75+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8907" y="2464296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Species Supported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2586" y="1697831"/>
            <a:ext cx="5482829" cy="56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49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3730" y="2464296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Accuracy Achieved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27409" y="1697831"/>
            <a:ext cx="5482829" cy="562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49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&lt;1s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58552" y="2464296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Response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764" y="3066604"/>
            <a:ext cx="3248322" cy="39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Real-World Applications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764" y="3856285"/>
            <a:ext cx="8230046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Wildlife conservation and species identification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7764" y="4233714"/>
            <a:ext cx="8230046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Educational interactive learning tools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7764" y="4611141"/>
            <a:ext cx="8230046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Research dataset creation assistance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89715" y="3856285"/>
            <a:ext cx="8230046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Pet industry breed identification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9715" y="4233714"/>
            <a:ext cx="8230046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219" indent="-113109" lvl="1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Tourism nature guide applications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764" y="5317034"/>
            <a:ext cx="2904679" cy="39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Future Roadmap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77764" y="7501830"/>
            <a:ext cx="16932474" cy="28575"/>
            <a:chOff x="0" y="0"/>
            <a:chExt cx="22576632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76662" cy="38100"/>
            </a:xfrm>
            <a:custGeom>
              <a:avLst/>
              <a:gdLst/>
              <a:ahLst/>
              <a:cxnLst/>
              <a:rect r="r" b="b" t="t" l="l"/>
              <a:pathLst>
                <a:path h="38100" w="2257666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2557612" y="0"/>
                  </a:lnTo>
                  <a:cubicBezTo>
                    <a:pt x="22568153" y="0"/>
                    <a:pt x="22576662" y="8509"/>
                    <a:pt x="22576662" y="19050"/>
                  </a:cubicBezTo>
                  <a:cubicBezTo>
                    <a:pt x="22576662" y="29591"/>
                    <a:pt x="22568153" y="38100"/>
                    <a:pt x="2255761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77134" y="6921029"/>
            <a:ext cx="28575" cy="580876"/>
            <a:chOff x="0" y="0"/>
            <a:chExt cx="38100" cy="7745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" cy="774446"/>
            </a:xfrm>
            <a:custGeom>
              <a:avLst/>
              <a:gdLst/>
              <a:ahLst/>
              <a:cxnLst/>
              <a:rect r="r" b="b" t="t" l="l"/>
              <a:pathLst>
                <a:path h="7744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55396"/>
                  </a:lnTo>
                  <a:cubicBezTo>
                    <a:pt x="38100" y="765937"/>
                    <a:pt x="29591" y="774446"/>
                    <a:pt x="19050" y="774446"/>
                  </a:cubicBezTo>
                  <a:cubicBezTo>
                    <a:pt x="8509" y="774446"/>
                    <a:pt x="0" y="765937"/>
                    <a:pt x="0" y="75539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773686" y="7284020"/>
            <a:ext cx="435620" cy="435620"/>
            <a:chOff x="0" y="0"/>
            <a:chExt cx="580827" cy="5808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0771" cy="580771"/>
            </a:xfrm>
            <a:custGeom>
              <a:avLst/>
              <a:gdLst/>
              <a:ahLst/>
              <a:cxnLst/>
              <a:rect r="r" b="b" t="t" l="l"/>
              <a:pathLst>
                <a:path h="580771" w="580771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036" y="0"/>
                  </a:lnTo>
                  <a:cubicBezTo>
                    <a:pt x="563372" y="0"/>
                    <a:pt x="580771" y="17399"/>
                    <a:pt x="580771" y="38735"/>
                  </a:cubicBezTo>
                  <a:lnTo>
                    <a:pt x="580771" y="542036"/>
                  </a:lnTo>
                  <a:cubicBezTo>
                    <a:pt x="580771" y="563372"/>
                    <a:pt x="563372" y="580771"/>
                    <a:pt x="542036" y="580771"/>
                  </a:cubicBezTo>
                  <a:lnTo>
                    <a:pt x="38735" y="580771"/>
                  </a:lnTo>
                  <a:cubicBezTo>
                    <a:pt x="17399" y="580771"/>
                    <a:pt x="0" y="563499"/>
                    <a:pt x="0" y="54203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846240" y="7348835"/>
            <a:ext cx="29036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24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81300" y="5961012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Q1 2025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1389" y="6350942"/>
            <a:ext cx="6240512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Expand to 150+ species, add video classification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411939" y="7501756"/>
            <a:ext cx="28575" cy="580876"/>
            <a:chOff x="0" y="0"/>
            <a:chExt cx="38100" cy="7745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" cy="774446"/>
            </a:xfrm>
            <a:custGeom>
              <a:avLst/>
              <a:gdLst/>
              <a:ahLst/>
              <a:cxnLst/>
              <a:rect r="r" b="b" t="t" l="l"/>
              <a:pathLst>
                <a:path h="7744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55396"/>
                  </a:lnTo>
                  <a:cubicBezTo>
                    <a:pt x="38100" y="765937"/>
                    <a:pt x="29591" y="774446"/>
                    <a:pt x="19050" y="774446"/>
                  </a:cubicBezTo>
                  <a:cubicBezTo>
                    <a:pt x="8509" y="774446"/>
                    <a:pt x="0" y="765937"/>
                    <a:pt x="0" y="75539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208490" y="7284020"/>
            <a:ext cx="435620" cy="435620"/>
            <a:chOff x="0" y="0"/>
            <a:chExt cx="580827" cy="5808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0771" cy="580771"/>
            </a:xfrm>
            <a:custGeom>
              <a:avLst/>
              <a:gdLst/>
              <a:ahLst/>
              <a:cxnLst/>
              <a:rect r="r" b="b" t="t" l="l"/>
              <a:pathLst>
                <a:path h="580771" w="580771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036" y="0"/>
                  </a:lnTo>
                  <a:cubicBezTo>
                    <a:pt x="563372" y="0"/>
                    <a:pt x="580771" y="17399"/>
                    <a:pt x="580771" y="38735"/>
                  </a:cubicBezTo>
                  <a:lnTo>
                    <a:pt x="580771" y="542036"/>
                  </a:lnTo>
                  <a:cubicBezTo>
                    <a:pt x="580771" y="563372"/>
                    <a:pt x="563372" y="580771"/>
                    <a:pt x="542036" y="580771"/>
                  </a:cubicBezTo>
                  <a:lnTo>
                    <a:pt x="38735" y="580771"/>
                  </a:lnTo>
                  <a:cubicBezTo>
                    <a:pt x="17399" y="580771"/>
                    <a:pt x="0" y="563499"/>
                    <a:pt x="0" y="54203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281044" y="7348835"/>
            <a:ext cx="29036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24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216104" y="8238232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Q2 2025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06192" y="8628161"/>
            <a:ext cx="6240513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Mobile app (iOS/Android), API monetization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846891" y="6921029"/>
            <a:ext cx="28575" cy="580876"/>
            <a:chOff x="0" y="0"/>
            <a:chExt cx="38100" cy="7745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100" cy="774446"/>
            </a:xfrm>
            <a:custGeom>
              <a:avLst/>
              <a:gdLst/>
              <a:ahLst/>
              <a:cxnLst/>
              <a:rect r="r" b="b" t="t" l="l"/>
              <a:pathLst>
                <a:path h="7744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55396"/>
                  </a:lnTo>
                  <a:cubicBezTo>
                    <a:pt x="38100" y="765937"/>
                    <a:pt x="29591" y="774446"/>
                    <a:pt x="19050" y="774446"/>
                  </a:cubicBezTo>
                  <a:cubicBezTo>
                    <a:pt x="8509" y="774446"/>
                    <a:pt x="0" y="765937"/>
                    <a:pt x="0" y="75539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643444" y="7284020"/>
            <a:ext cx="435620" cy="435620"/>
            <a:chOff x="0" y="0"/>
            <a:chExt cx="580827" cy="5808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0771" cy="580771"/>
            </a:xfrm>
            <a:custGeom>
              <a:avLst/>
              <a:gdLst/>
              <a:ahLst/>
              <a:cxnLst/>
              <a:rect r="r" b="b" t="t" l="l"/>
              <a:pathLst>
                <a:path h="580771" w="580771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036" y="0"/>
                  </a:lnTo>
                  <a:cubicBezTo>
                    <a:pt x="563372" y="0"/>
                    <a:pt x="580771" y="17399"/>
                    <a:pt x="580771" y="38735"/>
                  </a:cubicBezTo>
                  <a:lnTo>
                    <a:pt x="580771" y="542036"/>
                  </a:lnTo>
                  <a:cubicBezTo>
                    <a:pt x="580771" y="563372"/>
                    <a:pt x="563372" y="580771"/>
                    <a:pt x="542036" y="580771"/>
                  </a:cubicBezTo>
                  <a:lnTo>
                    <a:pt x="38735" y="580771"/>
                  </a:lnTo>
                  <a:cubicBezTo>
                    <a:pt x="17399" y="580771"/>
                    <a:pt x="0" y="563499"/>
                    <a:pt x="0" y="54203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715997" y="7348835"/>
            <a:ext cx="29036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24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51058" y="5961012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Q3 2025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41146" y="6350942"/>
            <a:ext cx="6240512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Multi-language support, real-time camera integration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281696" y="7501756"/>
            <a:ext cx="28575" cy="580876"/>
            <a:chOff x="0" y="0"/>
            <a:chExt cx="38100" cy="7745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100" cy="774446"/>
            </a:xfrm>
            <a:custGeom>
              <a:avLst/>
              <a:gdLst/>
              <a:ahLst/>
              <a:cxnLst/>
              <a:rect r="r" b="b" t="t" l="l"/>
              <a:pathLst>
                <a:path h="7744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755396"/>
                  </a:lnTo>
                  <a:cubicBezTo>
                    <a:pt x="38100" y="765937"/>
                    <a:pt x="29591" y="774446"/>
                    <a:pt x="19050" y="774446"/>
                  </a:cubicBezTo>
                  <a:cubicBezTo>
                    <a:pt x="8509" y="774446"/>
                    <a:pt x="0" y="765937"/>
                    <a:pt x="0" y="75539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078247" y="7284020"/>
            <a:ext cx="435620" cy="435620"/>
            <a:chOff x="0" y="0"/>
            <a:chExt cx="580827" cy="5808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0771" cy="580771"/>
            </a:xfrm>
            <a:custGeom>
              <a:avLst/>
              <a:gdLst/>
              <a:ahLst/>
              <a:cxnLst/>
              <a:rect r="r" b="b" t="t" l="l"/>
              <a:pathLst>
                <a:path h="580771" w="580771">
                  <a:moveTo>
                    <a:pt x="0" y="38735"/>
                  </a:moveTo>
                  <a:cubicBezTo>
                    <a:pt x="0" y="17399"/>
                    <a:pt x="17399" y="0"/>
                    <a:pt x="38735" y="0"/>
                  </a:cubicBezTo>
                  <a:lnTo>
                    <a:pt x="542036" y="0"/>
                  </a:lnTo>
                  <a:cubicBezTo>
                    <a:pt x="563372" y="0"/>
                    <a:pt x="580771" y="17399"/>
                    <a:pt x="580771" y="38735"/>
                  </a:cubicBezTo>
                  <a:lnTo>
                    <a:pt x="580771" y="542036"/>
                  </a:lnTo>
                  <a:cubicBezTo>
                    <a:pt x="580771" y="563372"/>
                    <a:pt x="563372" y="580771"/>
                    <a:pt x="542036" y="580771"/>
                  </a:cubicBezTo>
                  <a:lnTo>
                    <a:pt x="38735" y="580771"/>
                  </a:lnTo>
                  <a:cubicBezTo>
                    <a:pt x="17399" y="580771"/>
                    <a:pt x="0" y="563499"/>
                    <a:pt x="0" y="542036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150801" y="7348835"/>
            <a:ext cx="290364" cy="3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224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085861" y="8238232"/>
            <a:ext cx="2420541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Q4 2025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75950" y="8628161"/>
            <a:ext cx="6240513" cy="37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Blockchain for model versioning</a:t>
            </a:r>
          </a:p>
        </p:txBody>
      </p:sp>
      <p:grpSp>
        <p:nvGrpSpPr>
          <p:cNvPr name="Group 50" id="50"/>
          <p:cNvGrpSpPr>
            <a:grpSpLocks noChangeAspect="true"/>
          </p:cNvGrpSpPr>
          <p:nvPr/>
        </p:nvGrpSpPr>
        <p:grpSpPr>
          <a:xfrm rot="0">
            <a:off x="677764" y="9222284"/>
            <a:ext cx="1809304" cy="532508"/>
            <a:chOff x="0" y="0"/>
            <a:chExt cx="2412405" cy="710010"/>
          </a:xfrm>
        </p:grpSpPr>
        <p:sp>
          <p:nvSpPr>
            <p:cNvPr name="Freeform 51" id="51" descr="preencoded.png">
              <a:hlinkClick r:id="rId3" tooltip="https://github.com/karthik-ak-Git/Animal-classification"/>
            </p:cNvPr>
            <p:cNvSpPr/>
            <p:nvPr/>
          </p:nvSpPr>
          <p:spPr>
            <a:xfrm flipH="false" flipV="false" rot="0">
              <a:off x="0" y="0"/>
              <a:ext cx="2412365" cy="710057"/>
            </a:xfrm>
            <a:custGeom>
              <a:avLst/>
              <a:gdLst/>
              <a:ahLst/>
              <a:cxnLst/>
              <a:rect r="r" b="b" t="t" l="l"/>
              <a:pathLst>
                <a:path h="710057" w="2412365">
                  <a:moveTo>
                    <a:pt x="0" y="0"/>
                  </a:moveTo>
                  <a:lnTo>
                    <a:pt x="2412365" y="0"/>
                  </a:lnTo>
                  <a:lnTo>
                    <a:pt x="2412365" y="710057"/>
                  </a:lnTo>
                  <a:lnTo>
                    <a:pt x="0" y="71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1" r="-1" b="-64"/>
              </a:stretch>
            </a:blipFill>
          </p:spPr>
        </p:sp>
      </p:grpSp>
      <p:grpSp>
        <p:nvGrpSpPr>
          <p:cNvPr name="Group 52" id="52"/>
          <p:cNvGrpSpPr>
            <a:grpSpLocks noChangeAspect="true"/>
          </p:cNvGrpSpPr>
          <p:nvPr/>
        </p:nvGrpSpPr>
        <p:grpSpPr>
          <a:xfrm rot="0">
            <a:off x="2583805" y="9222284"/>
            <a:ext cx="2675036" cy="532508"/>
            <a:chOff x="0" y="0"/>
            <a:chExt cx="3566715" cy="71001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3566668" cy="710057"/>
            </a:xfrm>
            <a:custGeom>
              <a:avLst/>
              <a:gdLst/>
              <a:ahLst/>
              <a:cxnLst/>
              <a:rect r="r" b="b" t="t" l="l"/>
              <a:pathLst>
                <a:path h="710057" w="3566668">
                  <a:moveTo>
                    <a:pt x="0" y="0"/>
                  </a:moveTo>
                  <a:lnTo>
                    <a:pt x="3566668" y="0"/>
                  </a:lnTo>
                  <a:lnTo>
                    <a:pt x="3566668" y="710057"/>
                  </a:lnTo>
                  <a:lnTo>
                    <a:pt x="0" y="71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5" r="-1" b="-4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DAG2nKlRDTg</dc:identifier>
  <dcterms:modified xsi:type="dcterms:W3CDTF">2011-08-01T06:04:30Z</dcterms:modified>
  <cp:revision>1</cp:revision>
  <dc:title>AI-Powered-Animal-Classification-System.pptx</dc:title>
</cp:coreProperties>
</file>